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63" r:id="rId5"/>
    <p:sldId id="265" r:id="rId6"/>
    <p:sldId id="266" r:id="rId7"/>
    <p:sldId id="271" r:id="rId8"/>
    <p:sldId id="272" r:id="rId9"/>
    <p:sldId id="273" r:id="rId10"/>
    <p:sldId id="267" r:id="rId11"/>
    <p:sldId id="259" r:id="rId12"/>
    <p:sldId id="260" r:id="rId13"/>
    <p:sldId id="268" r:id="rId14"/>
    <p:sldId id="269" r:id="rId15"/>
    <p:sldId id="261" r:id="rId16"/>
    <p:sldId id="270" r:id="rId17"/>
  </p:sldIdLst>
  <p:sldSz cx="9144000" cy="6858000" type="screen4x3"/>
  <p:notesSz cx="7772400" cy="100584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34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3" Type="http://schemas.openxmlformats.org/officeDocument/2006/relationships/oleObject" Target="file:///C:\EAFIT\SEGUNDO%20SEMESTRE\Estructura%20de%20datos%20y%20Algoritmos%20l\Proyecto%20Final\Entrega%20Final\Tiempos_Memoria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EAFIT\SEGUNDO%20SEMESTRE\Estructura%20de%20datos%20y%20Algoritmos%20l\Proyecto%20Final\Entrega%20Final\Tiempos_Memoria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Tiempos</a:t>
            </a:r>
            <a:r>
              <a:rPr lang="en-US" baseline="0"/>
              <a:t> de ejecucion</a:t>
            </a:r>
            <a:endParaRPr lang="en-US"/>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Hoja1!$H$3</c:f>
              <c:strCache>
                <c:ptCount val="1"/>
                <c:pt idx="0">
                  <c:v>Mejor Tiempo [seg]</c:v>
                </c:pt>
              </c:strCache>
            </c:strRef>
          </c:tx>
          <c:spPr>
            <a:ln w="28575" cap="rnd">
              <a:solidFill>
                <a:schemeClr val="accent1"/>
              </a:solidFill>
              <a:round/>
            </a:ln>
            <a:effectLst/>
          </c:spPr>
          <c:marker>
            <c:symbol val="none"/>
          </c:marker>
          <c:cat>
            <c:numRef>
              <c:f>Hoja1!$I$2:$K$2</c:f>
              <c:numCache>
                <c:formatCode>0</c:formatCode>
                <c:ptCount val="3"/>
                <c:pt idx="0">
                  <c:v>458</c:v>
                </c:pt>
                <c:pt idx="1">
                  <c:v>674</c:v>
                </c:pt>
                <c:pt idx="2">
                  <c:v>374</c:v>
                </c:pt>
              </c:numCache>
            </c:numRef>
          </c:cat>
          <c:val>
            <c:numRef>
              <c:f>Hoja1!$I$3:$K$3</c:f>
              <c:numCache>
                <c:formatCode>0.000000000000000</c:formatCode>
                <c:ptCount val="3"/>
                <c:pt idx="0">
                  <c:v>1.0122168064117401</c:v>
                </c:pt>
                <c:pt idx="1">
                  <c:v>1.8180861473083401</c:v>
                </c:pt>
                <c:pt idx="2">
                  <c:v>0.73317170143127397</c:v>
                </c:pt>
              </c:numCache>
            </c:numRef>
          </c:val>
          <c:smooth val="0"/>
          <c:extLst>
            <c:ext xmlns:c16="http://schemas.microsoft.com/office/drawing/2014/chart" uri="{C3380CC4-5D6E-409C-BE32-E72D297353CC}">
              <c16:uniqueId val="{00000000-45F2-455E-BE44-916EFE3AA296}"/>
            </c:ext>
          </c:extLst>
        </c:ser>
        <c:ser>
          <c:idx val="1"/>
          <c:order val="1"/>
          <c:tx>
            <c:strRef>
              <c:f>Hoja1!$H$4</c:f>
              <c:strCache>
                <c:ptCount val="1"/>
                <c:pt idx="0">
                  <c:v>Peor Tiempo [seg]</c:v>
                </c:pt>
              </c:strCache>
            </c:strRef>
          </c:tx>
          <c:spPr>
            <a:ln w="28575" cap="rnd">
              <a:solidFill>
                <a:schemeClr val="accent2"/>
              </a:solidFill>
              <a:round/>
            </a:ln>
            <a:effectLst/>
          </c:spPr>
          <c:marker>
            <c:symbol val="none"/>
          </c:marker>
          <c:cat>
            <c:numRef>
              <c:f>Hoja1!$I$2:$K$2</c:f>
              <c:numCache>
                <c:formatCode>0</c:formatCode>
                <c:ptCount val="3"/>
                <c:pt idx="0">
                  <c:v>458</c:v>
                </c:pt>
                <c:pt idx="1">
                  <c:v>674</c:v>
                </c:pt>
                <c:pt idx="2">
                  <c:v>374</c:v>
                </c:pt>
              </c:numCache>
            </c:numRef>
          </c:cat>
          <c:val>
            <c:numRef>
              <c:f>Hoja1!$I$4:$K$4</c:f>
              <c:numCache>
                <c:formatCode>0.000000000000000</c:formatCode>
                <c:ptCount val="3"/>
                <c:pt idx="0">
                  <c:v>1.4604756832122801</c:v>
                </c:pt>
                <c:pt idx="1">
                  <c:v>2.50555419921875</c:v>
                </c:pt>
                <c:pt idx="2">
                  <c:v>1.1048235893249501</c:v>
                </c:pt>
              </c:numCache>
            </c:numRef>
          </c:val>
          <c:smooth val="0"/>
          <c:extLst>
            <c:ext xmlns:c16="http://schemas.microsoft.com/office/drawing/2014/chart" uri="{C3380CC4-5D6E-409C-BE32-E72D297353CC}">
              <c16:uniqueId val="{00000001-45F2-455E-BE44-916EFE3AA296}"/>
            </c:ext>
          </c:extLst>
        </c:ser>
        <c:ser>
          <c:idx val="2"/>
          <c:order val="2"/>
          <c:tx>
            <c:strRef>
              <c:f>Hoja1!$H$5</c:f>
              <c:strCache>
                <c:ptCount val="1"/>
                <c:pt idx="0">
                  <c:v>Tiempo Promedio [seg]</c:v>
                </c:pt>
              </c:strCache>
            </c:strRef>
          </c:tx>
          <c:spPr>
            <a:ln w="28575" cap="rnd">
              <a:solidFill>
                <a:schemeClr val="accent3"/>
              </a:solidFill>
              <a:round/>
            </a:ln>
            <a:effectLst/>
          </c:spPr>
          <c:marker>
            <c:symbol val="none"/>
          </c:marker>
          <c:cat>
            <c:numRef>
              <c:f>Hoja1!$I$2:$K$2</c:f>
              <c:numCache>
                <c:formatCode>0</c:formatCode>
                <c:ptCount val="3"/>
                <c:pt idx="0">
                  <c:v>458</c:v>
                </c:pt>
                <c:pt idx="1">
                  <c:v>674</c:v>
                </c:pt>
                <c:pt idx="2">
                  <c:v>374</c:v>
                </c:pt>
              </c:numCache>
            </c:numRef>
          </c:cat>
          <c:val>
            <c:numRef>
              <c:f>Hoja1!$I$5:$K$5</c:f>
              <c:numCache>
                <c:formatCode>0.000000000000000</c:formatCode>
                <c:ptCount val="3"/>
                <c:pt idx="0">
                  <c:v>1.2480780553817701</c:v>
                </c:pt>
                <c:pt idx="1">
                  <c:v>2.19431096553802</c:v>
                </c:pt>
                <c:pt idx="2">
                  <c:v>0.90619183778762802</c:v>
                </c:pt>
              </c:numCache>
            </c:numRef>
          </c:val>
          <c:smooth val="0"/>
          <c:extLst>
            <c:ext xmlns:c16="http://schemas.microsoft.com/office/drawing/2014/chart" uri="{C3380CC4-5D6E-409C-BE32-E72D297353CC}">
              <c16:uniqueId val="{00000002-45F2-455E-BE44-916EFE3AA296}"/>
            </c:ext>
          </c:extLst>
        </c:ser>
        <c:dLbls>
          <c:showLegendKey val="0"/>
          <c:showVal val="0"/>
          <c:showCatName val="0"/>
          <c:showSerName val="0"/>
          <c:showPercent val="0"/>
          <c:showBubbleSize val="0"/>
        </c:dLbls>
        <c:smooth val="0"/>
        <c:axId val="569769760"/>
        <c:axId val="569771840"/>
      </c:lineChart>
      <c:catAx>
        <c:axId val="569769760"/>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9771840"/>
        <c:crosses val="autoZero"/>
        <c:auto val="1"/>
        <c:lblAlgn val="ctr"/>
        <c:lblOffset val="100"/>
        <c:noMultiLvlLbl val="0"/>
      </c:catAx>
      <c:valAx>
        <c:axId val="569771840"/>
        <c:scaling>
          <c:orientation val="minMax"/>
        </c:scaling>
        <c:delete val="0"/>
        <c:axPos val="l"/>
        <c:majorGridlines>
          <c:spPr>
            <a:ln w="9525" cap="flat" cmpd="sng" algn="ctr">
              <a:solidFill>
                <a:schemeClr val="tx1">
                  <a:lumMod val="15000"/>
                  <a:lumOff val="85000"/>
                </a:schemeClr>
              </a:solidFill>
              <a:round/>
            </a:ln>
            <a:effectLst/>
          </c:spPr>
        </c:majorGridlines>
        <c:numFmt formatCode="0.0000000000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976976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Espacio en</a:t>
            </a:r>
            <a:r>
              <a:rPr lang="en-US" baseline="0"/>
              <a:t> </a:t>
            </a:r>
            <a:r>
              <a:rPr lang="en-US"/>
              <a:t>Memoria</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Hoja1!$I$25</c:f>
              <c:strCache>
                <c:ptCount val="1"/>
                <c:pt idx="0">
                  <c:v>458</c:v>
                </c:pt>
              </c:strCache>
            </c:strRef>
          </c:tx>
          <c:spPr>
            <a:ln w="28575" cap="rnd">
              <a:solidFill>
                <a:schemeClr val="accent1"/>
              </a:solidFill>
              <a:round/>
            </a:ln>
            <a:effectLst/>
          </c:spPr>
          <c:marker>
            <c:symbol val="none"/>
          </c:marker>
          <c:cat>
            <c:strRef>
              <c:f>Hoja1!$H$26:$H$28</c:f>
              <c:strCache>
                <c:ptCount val="3"/>
                <c:pt idx="0">
                  <c:v>Menor Memoria [MB]</c:v>
                </c:pt>
                <c:pt idx="1">
                  <c:v>Mayor Memoria [MB]</c:v>
                </c:pt>
                <c:pt idx="2">
                  <c:v>Memoria Promedio [MB]</c:v>
                </c:pt>
              </c:strCache>
            </c:strRef>
          </c:cat>
          <c:val>
            <c:numRef>
              <c:f>Hoja1!$I$26:$I$28</c:f>
              <c:numCache>
                <c:formatCode>0.00000000</c:formatCode>
                <c:ptCount val="3"/>
                <c:pt idx="0">
                  <c:v>233.87340800000001</c:v>
                </c:pt>
                <c:pt idx="1">
                  <c:v>233.87340800000001</c:v>
                </c:pt>
                <c:pt idx="2">
                  <c:v>233.87340800000001</c:v>
                </c:pt>
              </c:numCache>
            </c:numRef>
          </c:val>
          <c:smooth val="0"/>
          <c:extLst>
            <c:ext xmlns:c16="http://schemas.microsoft.com/office/drawing/2014/chart" uri="{C3380CC4-5D6E-409C-BE32-E72D297353CC}">
              <c16:uniqueId val="{00000000-E0BB-4633-AB28-88BF9CFF6483}"/>
            </c:ext>
          </c:extLst>
        </c:ser>
        <c:ser>
          <c:idx val="1"/>
          <c:order val="1"/>
          <c:tx>
            <c:strRef>
              <c:f>Hoja1!$J$25</c:f>
              <c:strCache>
                <c:ptCount val="1"/>
                <c:pt idx="0">
                  <c:v>674</c:v>
                </c:pt>
              </c:strCache>
            </c:strRef>
          </c:tx>
          <c:spPr>
            <a:ln w="28575" cap="rnd">
              <a:solidFill>
                <a:schemeClr val="accent2"/>
              </a:solidFill>
              <a:round/>
            </a:ln>
            <a:effectLst/>
          </c:spPr>
          <c:marker>
            <c:symbol val="none"/>
          </c:marker>
          <c:cat>
            <c:strRef>
              <c:f>Hoja1!$H$26:$H$28</c:f>
              <c:strCache>
                <c:ptCount val="3"/>
                <c:pt idx="0">
                  <c:v>Menor Memoria [MB]</c:v>
                </c:pt>
                <c:pt idx="1">
                  <c:v>Mayor Memoria [MB]</c:v>
                </c:pt>
                <c:pt idx="2">
                  <c:v>Memoria Promedio [MB]</c:v>
                </c:pt>
              </c:strCache>
            </c:strRef>
          </c:cat>
          <c:val>
            <c:numRef>
              <c:f>Hoja1!$J$26:$J$28</c:f>
              <c:numCache>
                <c:formatCode>0.00000000</c:formatCode>
                <c:ptCount val="3"/>
                <c:pt idx="0">
                  <c:v>234.401792</c:v>
                </c:pt>
                <c:pt idx="1">
                  <c:v>234.405888</c:v>
                </c:pt>
                <c:pt idx="2">
                  <c:v>234.40584704</c:v>
                </c:pt>
              </c:numCache>
            </c:numRef>
          </c:val>
          <c:smooth val="0"/>
          <c:extLst>
            <c:ext xmlns:c16="http://schemas.microsoft.com/office/drawing/2014/chart" uri="{C3380CC4-5D6E-409C-BE32-E72D297353CC}">
              <c16:uniqueId val="{00000001-E0BB-4633-AB28-88BF9CFF6483}"/>
            </c:ext>
          </c:extLst>
        </c:ser>
        <c:ser>
          <c:idx val="2"/>
          <c:order val="2"/>
          <c:tx>
            <c:strRef>
              <c:f>Hoja1!$K$25</c:f>
              <c:strCache>
                <c:ptCount val="1"/>
                <c:pt idx="0">
                  <c:v>374</c:v>
                </c:pt>
              </c:strCache>
            </c:strRef>
          </c:tx>
          <c:spPr>
            <a:ln w="28575" cap="rnd">
              <a:solidFill>
                <a:schemeClr val="accent3"/>
              </a:solidFill>
              <a:round/>
            </a:ln>
            <a:effectLst/>
          </c:spPr>
          <c:marker>
            <c:symbol val="none"/>
          </c:marker>
          <c:cat>
            <c:strRef>
              <c:f>Hoja1!$H$26:$H$28</c:f>
              <c:strCache>
                <c:ptCount val="3"/>
                <c:pt idx="0">
                  <c:v>Menor Memoria [MB]</c:v>
                </c:pt>
                <c:pt idx="1">
                  <c:v>Mayor Memoria [MB]</c:v>
                </c:pt>
                <c:pt idx="2">
                  <c:v>Memoria Promedio [MB]</c:v>
                </c:pt>
              </c:strCache>
            </c:strRef>
          </c:cat>
          <c:val>
            <c:numRef>
              <c:f>Hoja1!$K$26:$K$28</c:f>
              <c:numCache>
                <c:formatCode>0.00000000</c:formatCode>
                <c:ptCount val="3"/>
                <c:pt idx="0">
                  <c:v>234.40998400000001</c:v>
                </c:pt>
                <c:pt idx="1">
                  <c:v>234.40998400000001</c:v>
                </c:pt>
                <c:pt idx="2">
                  <c:v>234.40998400000001</c:v>
                </c:pt>
              </c:numCache>
            </c:numRef>
          </c:val>
          <c:smooth val="0"/>
          <c:extLst>
            <c:ext xmlns:c16="http://schemas.microsoft.com/office/drawing/2014/chart" uri="{C3380CC4-5D6E-409C-BE32-E72D297353CC}">
              <c16:uniqueId val="{00000002-E0BB-4633-AB28-88BF9CFF6483}"/>
            </c:ext>
          </c:extLst>
        </c:ser>
        <c:dLbls>
          <c:showLegendKey val="0"/>
          <c:showVal val="0"/>
          <c:showCatName val="0"/>
          <c:showSerName val="0"/>
          <c:showPercent val="0"/>
          <c:showBubbleSize val="0"/>
        </c:dLbls>
        <c:smooth val="0"/>
        <c:axId val="620305968"/>
        <c:axId val="620303056"/>
      </c:lineChart>
      <c:catAx>
        <c:axId val="620305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0303056"/>
        <c:crosses val="autoZero"/>
        <c:auto val="1"/>
        <c:lblAlgn val="ctr"/>
        <c:lblOffset val="100"/>
        <c:noMultiLvlLbl val="0"/>
      </c:catAx>
      <c:valAx>
        <c:axId val="620303056"/>
        <c:scaling>
          <c:orientation val="minMax"/>
        </c:scaling>
        <c:delete val="0"/>
        <c:axPos val="l"/>
        <c:majorGridlines>
          <c:spPr>
            <a:ln w="9525" cap="flat" cmpd="sng" algn="ctr">
              <a:solidFill>
                <a:schemeClr val="tx1">
                  <a:lumMod val="15000"/>
                  <a:lumOff val="85000"/>
                </a:schemeClr>
              </a:solidFill>
              <a:round/>
            </a:ln>
            <a:effectLst/>
          </c:spPr>
        </c:majorGridlines>
        <c:numFmt formatCode="0.000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030596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 name="PlaceHolder 3"/>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4" name="PlaceHolder 4"/>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9"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0" name="PlaceHolder 5"/>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2"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3" name="PlaceHolder 3"/>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34" name="Imagen 33"/>
          <p:cNvPicPr/>
          <p:nvPr/>
        </p:nvPicPr>
        <p:blipFill>
          <a:blip r:embed="rId2"/>
          <a:stretch/>
        </p:blipFill>
        <p:spPr>
          <a:xfrm>
            <a:off x="2079000" y="1604520"/>
            <a:ext cx="4984920" cy="3977280"/>
          </a:xfrm>
          <a:prstGeom prst="rect">
            <a:avLst/>
          </a:prstGeom>
          <a:ln>
            <a:noFill/>
          </a:ln>
        </p:spPr>
      </p:pic>
      <p:pic>
        <p:nvPicPr>
          <p:cNvPr id="35" name="Imagen 34"/>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9"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1"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3"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4" name="PlaceHolder 3"/>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8"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9" name="PlaceHolder 3"/>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0" name="PlaceHolder 4"/>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2"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3"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4"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6"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7"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58" name="PlaceHolder 4"/>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0" name="PlaceHolder 2"/>
          <p:cNvSpPr>
            <a:spLocks noGrp="1"/>
          </p:cNvSpPr>
          <p:nvPr>
            <p:ph type="body"/>
          </p:nvPr>
        </p:nvSpPr>
        <p:spPr>
          <a:xfrm>
            <a:off x="457200" y="160452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1" name="PlaceHolder 3"/>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3"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4"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5"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6" name="PlaceHolder 5"/>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8"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9" name="PlaceHolder 3"/>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70" name="Imagen 69"/>
          <p:cNvPicPr/>
          <p:nvPr/>
        </p:nvPicPr>
        <p:blipFill>
          <a:blip r:embed="rId2"/>
          <a:stretch/>
        </p:blipFill>
        <p:spPr>
          <a:xfrm>
            <a:off x="2079000" y="1604520"/>
            <a:ext cx="4984920" cy="3977280"/>
          </a:xfrm>
          <a:prstGeom prst="rect">
            <a:avLst/>
          </a:prstGeom>
          <a:ln>
            <a:noFill/>
          </a:ln>
        </p:spPr>
      </p:pic>
      <p:pic>
        <p:nvPicPr>
          <p:cNvPr id="71" name="Imagen 70"/>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solidFill>
                  <a:srgbClr val="000000"/>
                </a:solidFill>
                <a:uFill>
                  <a:solidFill>
                    <a:srgbClr val="FFFFFF"/>
                  </a:solidFill>
                </a:uFill>
                <a:latin typeface="Arial"/>
              </a:rPr>
              <a:t>Click to edit the title text format</a:t>
            </a:r>
          </a:p>
        </p:txBody>
      </p:sp>
      <p:sp>
        <p:nvSpPr>
          <p:cNvPr id="3" name="PlaceHolder 2"/>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solidFill>
                  <a:srgbClr val="000000"/>
                </a:solidFill>
                <a:uFill>
                  <a:solidFill>
                    <a:srgbClr val="FFFFFF"/>
                  </a:solidFill>
                </a:uFill>
                <a:latin typeface="Arial"/>
              </a:rPr>
              <a:t>Click to edit the title text format</a:t>
            </a:r>
          </a:p>
        </p:txBody>
      </p:sp>
      <p:sp>
        <p:nvSpPr>
          <p:cNvPr id="37" name="PlaceHolder 2"/>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CustomShape 1"/>
          <p:cNvSpPr/>
          <p:nvPr/>
        </p:nvSpPr>
        <p:spPr>
          <a:xfrm>
            <a:off x="810540" y="1332114"/>
            <a:ext cx="7770960" cy="1468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4000" b="1" i="1" strike="noStrike" spc="-1" dirty="0">
                <a:solidFill>
                  <a:srgbClr val="333F4F"/>
                </a:solidFill>
                <a:uFill>
                  <a:solidFill>
                    <a:srgbClr val="FFFFFF"/>
                  </a:solidFill>
                </a:uFill>
                <a:latin typeface="+mj-lt"/>
              </a:rPr>
              <a:t>DETECCIÓN DE LA “ROYA” EN PLANTAS DE CAFÉ</a:t>
            </a:r>
            <a:endParaRPr lang="en-US" sz="1800" b="1" strike="noStrike" spc="-1" dirty="0">
              <a:solidFill>
                <a:srgbClr val="000000"/>
              </a:solidFill>
              <a:uFill>
                <a:solidFill>
                  <a:srgbClr val="FFFFFF"/>
                </a:solidFill>
              </a:uFill>
              <a:latin typeface="+mj-lt"/>
            </a:endParaRPr>
          </a:p>
          <a:p>
            <a:pPr algn="ctr">
              <a:lnSpc>
                <a:spcPct val="100000"/>
              </a:lnSpc>
            </a:pPr>
            <a:endParaRPr lang="en-US" sz="1800" b="0" strike="noStrike" spc="-1" dirty="0">
              <a:solidFill>
                <a:srgbClr val="000000"/>
              </a:solidFill>
              <a:uFill>
                <a:solidFill>
                  <a:srgbClr val="FFFFFF"/>
                </a:solidFill>
              </a:uFill>
              <a:latin typeface="Arial"/>
            </a:endParaRPr>
          </a:p>
        </p:txBody>
      </p:sp>
      <p:sp>
        <p:nvSpPr>
          <p:cNvPr id="73" name="CustomShape 2"/>
          <p:cNvSpPr/>
          <p:nvPr/>
        </p:nvSpPr>
        <p:spPr>
          <a:xfrm>
            <a:off x="467640" y="2952959"/>
            <a:ext cx="8456760" cy="187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endParaRPr lang="en-US" sz="1800" b="0" strike="noStrike" spc="-1" dirty="0">
              <a:solidFill>
                <a:srgbClr val="000000"/>
              </a:solidFill>
              <a:uFill>
                <a:solidFill>
                  <a:srgbClr val="FFFFFF"/>
                </a:solidFill>
              </a:uFill>
              <a:latin typeface="Arial"/>
            </a:endParaRPr>
          </a:p>
          <a:p>
            <a:pPr algn="ctr">
              <a:lnSpc>
                <a:spcPct val="100000"/>
              </a:lnSpc>
            </a:pPr>
            <a:r>
              <a:rPr lang="en-US" sz="2400" b="1" i="1" spc="-1" dirty="0">
                <a:solidFill>
                  <a:srgbClr val="1F4E79"/>
                </a:solidFill>
                <a:uFill>
                  <a:solidFill>
                    <a:srgbClr val="FFFFFF"/>
                  </a:solidFill>
                </a:uFill>
                <a:latin typeface="Calibri"/>
              </a:rPr>
              <a:t>Camilo Cossio Alzate</a:t>
            </a:r>
          </a:p>
          <a:p>
            <a:pPr algn="ctr">
              <a:lnSpc>
                <a:spcPct val="100000"/>
              </a:lnSpc>
            </a:pPr>
            <a:r>
              <a:rPr lang="en-US" sz="2400" b="1" i="1" spc="-1" dirty="0">
                <a:solidFill>
                  <a:srgbClr val="1F4E79"/>
                </a:solidFill>
                <a:uFill>
                  <a:solidFill>
                    <a:srgbClr val="FFFFFF"/>
                  </a:solidFill>
                </a:uFill>
                <a:latin typeface="Calibri"/>
              </a:rPr>
              <a:t>Juan Andrés Giraldo Aristizábal</a:t>
            </a:r>
            <a:endParaRPr lang="en-US" sz="1800" b="0" strike="noStrike" spc="-1" dirty="0">
              <a:solidFill>
                <a:srgbClr val="000000"/>
              </a:solidFill>
              <a:uFill>
                <a:solidFill>
                  <a:srgbClr val="FFFFFF"/>
                </a:solidFill>
              </a:uFill>
              <a:latin typeface="Arial"/>
            </a:endParaRPr>
          </a:p>
          <a:p>
            <a:pPr algn="ctr">
              <a:lnSpc>
                <a:spcPct val="100000"/>
              </a:lnSpc>
            </a:pPr>
            <a:r>
              <a:rPr lang="en-US" sz="2400" b="0" i="1" strike="noStrike" spc="-1" dirty="0">
                <a:solidFill>
                  <a:srgbClr val="1F4E79"/>
                </a:solidFill>
                <a:uFill>
                  <a:solidFill>
                    <a:srgbClr val="FFFFFF"/>
                  </a:solidFill>
                </a:uFill>
                <a:latin typeface="Calibri"/>
                <a:ea typeface="DejaVu Sans"/>
              </a:rPr>
              <a:t>Medellín, Fecha del día de la sustentación</a:t>
            </a:r>
            <a:endParaRPr lang="en-US" sz="1800" b="0" strike="noStrike"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CustomShape 1"/>
          <p:cNvSpPr/>
          <p:nvPr/>
        </p:nvSpPr>
        <p:spPr>
          <a:xfrm>
            <a:off x="257557" y="537579"/>
            <a:ext cx="7885440" cy="614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800" b="1" i="1" spc="-1" dirty="0">
                <a:solidFill>
                  <a:srgbClr val="333F4F"/>
                </a:solidFill>
                <a:uFill>
                  <a:solidFill>
                    <a:srgbClr val="FFFFFF"/>
                  </a:solidFill>
                </a:uFill>
                <a:latin typeface="+mj-lt"/>
                <a:ea typeface="DejaVu Sans"/>
              </a:rPr>
              <a:t>Estructuras de Datos Diseñada</a:t>
            </a:r>
          </a:p>
        </p:txBody>
      </p:sp>
      <p:sp>
        <p:nvSpPr>
          <p:cNvPr id="76" name="CustomShape 2"/>
          <p:cNvSpPr/>
          <p:nvPr/>
        </p:nvSpPr>
        <p:spPr>
          <a:xfrm>
            <a:off x="423933" y="4885513"/>
            <a:ext cx="8545292" cy="48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1600" b="1" i="1" spc="-1" dirty="0">
                <a:uFill>
                  <a:solidFill>
                    <a:srgbClr val="FFFFFF"/>
                  </a:solidFill>
                </a:uFill>
                <a:latin typeface="+mj-lt"/>
                <a:ea typeface="DejaVu Sans"/>
              </a:rPr>
              <a:t>Gráfico 1: </a:t>
            </a:r>
            <a:r>
              <a:rPr lang="es-CO" dirty="0"/>
              <a:t>Árbol de decisión que evalúa la presencia de roya de acuerdo con las variables pH, humedad del suelo, temperatura del suelo, humedad del ambiente, iluminación y temperatura del ambiente. </a:t>
            </a:r>
            <a:endParaRPr lang="en-US" dirty="0"/>
          </a:p>
          <a:p>
            <a:pPr algn="just">
              <a:lnSpc>
                <a:spcPct val="100000"/>
              </a:lnSpc>
            </a:pPr>
            <a:endParaRPr lang="en-US" sz="2000" b="0" strike="noStrike" spc="-1" dirty="0">
              <a:solidFill>
                <a:srgbClr val="000000"/>
              </a:solidFill>
              <a:uFill>
                <a:solidFill>
                  <a:srgbClr val="FFFFFF"/>
                </a:solidFill>
              </a:uFill>
              <a:latin typeface="Arial"/>
            </a:endParaRPr>
          </a:p>
        </p:txBody>
      </p:sp>
      <p:pic>
        <p:nvPicPr>
          <p:cNvPr id="15" name="Imagen 14">
            <a:extLst>
              <a:ext uri="{FF2B5EF4-FFF2-40B4-BE49-F238E27FC236}">
                <a16:creationId xmlns:a16="http://schemas.microsoft.com/office/drawing/2014/main" id="{83A14800-C54D-46E1-BC10-EA0085F79B8B}"/>
              </a:ext>
            </a:extLst>
          </p:cNvPr>
          <p:cNvPicPr/>
          <p:nvPr/>
        </p:nvPicPr>
        <p:blipFill>
          <a:blip r:embed="rId2"/>
          <a:stretch>
            <a:fillRect/>
          </a:stretch>
        </p:blipFill>
        <p:spPr>
          <a:xfrm>
            <a:off x="1740394" y="1115758"/>
            <a:ext cx="5912371" cy="3872496"/>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D653F34-4BBA-47A3-A920-BC86C93CCD1E}"/>
              </a:ext>
            </a:extLst>
          </p:cNvPr>
          <p:cNvPicPr/>
          <p:nvPr/>
        </p:nvPicPr>
        <p:blipFill>
          <a:blip r:embed="rId2"/>
          <a:stretch>
            <a:fillRect/>
          </a:stretch>
        </p:blipFill>
        <p:spPr>
          <a:xfrm>
            <a:off x="97603" y="1426301"/>
            <a:ext cx="8948791" cy="1790861"/>
          </a:xfrm>
          <a:prstGeom prst="rect">
            <a:avLst/>
          </a:prstGeom>
        </p:spPr>
      </p:pic>
      <p:sp>
        <p:nvSpPr>
          <p:cNvPr id="5" name="CustomShape 2">
            <a:extLst>
              <a:ext uri="{FF2B5EF4-FFF2-40B4-BE49-F238E27FC236}">
                <a16:creationId xmlns:a16="http://schemas.microsoft.com/office/drawing/2014/main" id="{49C1C72F-58FD-4D4D-879D-B83DEED18908}"/>
              </a:ext>
            </a:extLst>
          </p:cNvPr>
          <p:cNvSpPr/>
          <p:nvPr/>
        </p:nvSpPr>
        <p:spPr>
          <a:xfrm>
            <a:off x="299353" y="3429000"/>
            <a:ext cx="8545292" cy="48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1600" b="1" i="1" spc="-1" dirty="0">
                <a:uFill>
                  <a:solidFill>
                    <a:srgbClr val="FFFFFF"/>
                  </a:solidFill>
                </a:uFill>
                <a:latin typeface="+mj-lt"/>
                <a:ea typeface="DejaVu Sans"/>
              </a:rPr>
              <a:t>Gráfico 2: </a:t>
            </a:r>
            <a:r>
              <a:rPr lang="es-CO" dirty="0"/>
              <a:t>Arreglo bidimensional que almacena cada columna y fila del archivo CSV en forma de matriz. . </a:t>
            </a:r>
            <a:endParaRPr lang="en-US" dirty="0"/>
          </a:p>
          <a:p>
            <a:pPr algn="just">
              <a:lnSpc>
                <a:spcPct val="100000"/>
              </a:lnSpc>
            </a:pPr>
            <a:endParaRPr lang="en-US" sz="2000" b="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2422876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9077D6A-AF17-4C0B-B61B-5B81C1B7C2B0}"/>
              </a:ext>
            </a:extLst>
          </p:cNvPr>
          <p:cNvSpPr txBox="1"/>
          <p:nvPr/>
        </p:nvSpPr>
        <p:spPr>
          <a:xfrm>
            <a:off x="647272" y="626724"/>
            <a:ext cx="4027470" cy="369332"/>
          </a:xfrm>
          <a:prstGeom prst="rect">
            <a:avLst/>
          </a:prstGeom>
          <a:noFill/>
        </p:spPr>
        <p:txBody>
          <a:bodyPr wrap="square" rtlCol="0">
            <a:spAutoFit/>
          </a:bodyPr>
          <a:lstStyle/>
          <a:p>
            <a:r>
              <a:rPr lang="es-CO" b="1" dirty="0"/>
              <a:t>Buscar.</a:t>
            </a:r>
            <a:endParaRPr lang="en-US" b="1" dirty="0"/>
          </a:p>
        </p:txBody>
      </p:sp>
      <p:pic>
        <p:nvPicPr>
          <p:cNvPr id="5" name="Imagen 4">
            <a:extLst>
              <a:ext uri="{FF2B5EF4-FFF2-40B4-BE49-F238E27FC236}">
                <a16:creationId xmlns:a16="http://schemas.microsoft.com/office/drawing/2014/main" id="{00C872B2-F8DE-4328-AF5A-38AD82DE9790}"/>
              </a:ext>
            </a:extLst>
          </p:cNvPr>
          <p:cNvPicPr/>
          <p:nvPr/>
        </p:nvPicPr>
        <p:blipFill>
          <a:blip r:embed="rId2"/>
          <a:stretch>
            <a:fillRect/>
          </a:stretch>
        </p:blipFill>
        <p:spPr>
          <a:xfrm>
            <a:off x="101971" y="1283733"/>
            <a:ext cx="9042029" cy="2055369"/>
          </a:xfrm>
          <a:prstGeom prst="rect">
            <a:avLst/>
          </a:prstGeom>
        </p:spPr>
      </p:pic>
      <p:sp>
        <p:nvSpPr>
          <p:cNvPr id="6" name="CuadroTexto 5">
            <a:extLst>
              <a:ext uri="{FF2B5EF4-FFF2-40B4-BE49-F238E27FC236}">
                <a16:creationId xmlns:a16="http://schemas.microsoft.com/office/drawing/2014/main" id="{A8F25B09-0343-4B8C-A48B-82E0225A624A}"/>
              </a:ext>
            </a:extLst>
          </p:cNvPr>
          <p:cNvSpPr txBox="1"/>
          <p:nvPr/>
        </p:nvSpPr>
        <p:spPr>
          <a:xfrm>
            <a:off x="236306" y="3832261"/>
            <a:ext cx="8322067" cy="369332"/>
          </a:xfrm>
          <a:prstGeom prst="rect">
            <a:avLst/>
          </a:prstGeom>
          <a:noFill/>
        </p:spPr>
        <p:txBody>
          <a:bodyPr wrap="square" rtlCol="0">
            <a:spAutoFit/>
          </a:bodyPr>
          <a:lstStyle/>
          <a:p>
            <a:r>
              <a:rPr lang="es-ES_tradnl" b="1"/>
              <a:t>Gráfica 5: </a:t>
            </a:r>
            <a:r>
              <a:rPr lang="es-ES_tradnl"/>
              <a:t>Buscar el elemento “35”  en la categoría temperatura del ambiente.</a:t>
            </a:r>
            <a:endParaRPr lang="en-US"/>
          </a:p>
        </p:txBody>
      </p:sp>
    </p:spTree>
    <p:extLst>
      <p:ext uri="{BB962C8B-B14F-4D97-AF65-F5344CB8AC3E}">
        <p14:creationId xmlns:p14="http://schemas.microsoft.com/office/powerpoint/2010/main" val="3656650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F14344E-67A2-4770-8BF0-A99836D34CE2}"/>
              </a:ext>
            </a:extLst>
          </p:cNvPr>
          <p:cNvSpPr txBox="1"/>
          <p:nvPr/>
        </p:nvSpPr>
        <p:spPr>
          <a:xfrm>
            <a:off x="318499" y="544530"/>
            <a:ext cx="3328827" cy="369332"/>
          </a:xfrm>
          <a:prstGeom prst="rect">
            <a:avLst/>
          </a:prstGeom>
          <a:noFill/>
        </p:spPr>
        <p:txBody>
          <a:bodyPr wrap="square" rtlCol="0">
            <a:spAutoFit/>
          </a:bodyPr>
          <a:lstStyle/>
          <a:p>
            <a:r>
              <a:rPr lang="es-CO" b="1" dirty="0"/>
              <a:t>Insertar nueva fila.</a:t>
            </a:r>
            <a:endParaRPr lang="en-US" b="1" dirty="0"/>
          </a:p>
        </p:txBody>
      </p:sp>
      <p:pic>
        <p:nvPicPr>
          <p:cNvPr id="5" name="Imagen 4">
            <a:extLst>
              <a:ext uri="{FF2B5EF4-FFF2-40B4-BE49-F238E27FC236}">
                <a16:creationId xmlns:a16="http://schemas.microsoft.com/office/drawing/2014/main" id="{0C31D66D-784F-4736-8C2B-EE131A032A57}"/>
              </a:ext>
            </a:extLst>
          </p:cNvPr>
          <p:cNvPicPr/>
          <p:nvPr/>
        </p:nvPicPr>
        <p:blipFill>
          <a:blip r:embed="rId2"/>
          <a:stretch>
            <a:fillRect/>
          </a:stretch>
        </p:blipFill>
        <p:spPr>
          <a:xfrm>
            <a:off x="318499" y="1017142"/>
            <a:ext cx="8373438" cy="2784296"/>
          </a:xfrm>
          <a:prstGeom prst="rect">
            <a:avLst/>
          </a:prstGeom>
        </p:spPr>
      </p:pic>
      <p:sp>
        <p:nvSpPr>
          <p:cNvPr id="6" name="CuadroTexto 5">
            <a:extLst>
              <a:ext uri="{FF2B5EF4-FFF2-40B4-BE49-F238E27FC236}">
                <a16:creationId xmlns:a16="http://schemas.microsoft.com/office/drawing/2014/main" id="{633C3A3F-9B0C-4119-ACCF-CD448F93C99D}"/>
              </a:ext>
            </a:extLst>
          </p:cNvPr>
          <p:cNvSpPr txBox="1"/>
          <p:nvPr/>
        </p:nvSpPr>
        <p:spPr>
          <a:xfrm>
            <a:off x="226031" y="4099389"/>
            <a:ext cx="8691937" cy="923330"/>
          </a:xfrm>
          <a:prstGeom prst="rect">
            <a:avLst/>
          </a:prstGeom>
          <a:noFill/>
        </p:spPr>
        <p:txBody>
          <a:bodyPr wrap="square" rtlCol="0">
            <a:spAutoFit/>
          </a:bodyPr>
          <a:lstStyle/>
          <a:p>
            <a:r>
              <a:rPr lang="es-CO" b="1" dirty="0"/>
              <a:t>Gráfica 6: </a:t>
            </a:r>
            <a:r>
              <a:rPr lang="es-CO" dirty="0"/>
              <a:t>Luego de leer el archivo CSV, se le asigna a la nueva fila su respectiva posición dentro del arreglo bidimensional a cada dato de esta.</a:t>
            </a:r>
            <a:endParaRPr lang="en-US" dirty="0"/>
          </a:p>
          <a:p>
            <a:endParaRPr lang="en-US" dirty="0"/>
          </a:p>
        </p:txBody>
      </p:sp>
    </p:spTree>
    <p:extLst>
      <p:ext uri="{BB962C8B-B14F-4D97-AF65-F5344CB8AC3E}">
        <p14:creationId xmlns:p14="http://schemas.microsoft.com/office/powerpoint/2010/main" val="2677978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8896096-C616-4FC6-9C1C-2924D702BDC0}"/>
              </a:ext>
            </a:extLst>
          </p:cNvPr>
          <p:cNvSpPr txBox="1"/>
          <p:nvPr/>
        </p:nvSpPr>
        <p:spPr>
          <a:xfrm>
            <a:off x="924674" y="544530"/>
            <a:ext cx="2619910" cy="369332"/>
          </a:xfrm>
          <a:prstGeom prst="rect">
            <a:avLst/>
          </a:prstGeom>
          <a:noFill/>
        </p:spPr>
        <p:txBody>
          <a:bodyPr wrap="square" rtlCol="0">
            <a:spAutoFit/>
          </a:bodyPr>
          <a:lstStyle/>
          <a:p>
            <a:r>
              <a:rPr lang="es-ES_tradnl" b="1"/>
              <a:t>Leer archivo</a:t>
            </a:r>
            <a:endParaRPr lang="en-US" dirty="0"/>
          </a:p>
        </p:txBody>
      </p:sp>
      <p:pic>
        <p:nvPicPr>
          <p:cNvPr id="5" name="Imagen 4">
            <a:extLst>
              <a:ext uri="{FF2B5EF4-FFF2-40B4-BE49-F238E27FC236}">
                <a16:creationId xmlns:a16="http://schemas.microsoft.com/office/drawing/2014/main" id="{03C7770E-D671-43FE-970D-FEA29CE0541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326572" y="1480004"/>
            <a:ext cx="8490856" cy="697139"/>
          </a:xfrm>
          <a:prstGeom prst="rect">
            <a:avLst/>
          </a:prstGeom>
        </p:spPr>
      </p:pic>
      <p:sp>
        <p:nvSpPr>
          <p:cNvPr id="6" name="Flecha: hacia abajo 5">
            <a:extLst>
              <a:ext uri="{FF2B5EF4-FFF2-40B4-BE49-F238E27FC236}">
                <a16:creationId xmlns:a16="http://schemas.microsoft.com/office/drawing/2014/main" id="{2A85D424-92EF-4B4B-B1E9-F1A2460B5A41}"/>
              </a:ext>
            </a:extLst>
          </p:cNvPr>
          <p:cNvSpPr/>
          <p:nvPr/>
        </p:nvSpPr>
        <p:spPr>
          <a:xfrm>
            <a:off x="3914311" y="2382043"/>
            <a:ext cx="976188" cy="1103901"/>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7" name="Imagen 6">
            <a:extLst>
              <a:ext uri="{FF2B5EF4-FFF2-40B4-BE49-F238E27FC236}">
                <a16:creationId xmlns:a16="http://schemas.microsoft.com/office/drawing/2014/main" id="{84A9F999-5635-43B8-B656-E7F35AAE515C}"/>
              </a:ext>
            </a:extLst>
          </p:cNvPr>
          <p:cNvPicPr>
            <a:picLocks noChangeAspect="1"/>
          </p:cNvPicPr>
          <p:nvPr/>
        </p:nvPicPr>
        <p:blipFill>
          <a:blip r:embed="rId3"/>
          <a:stretch>
            <a:fillRect/>
          </a:stretch>
        </p:blipFill>
        <p:spPr>
          <a:xfrm>
            <a:off x="2059255" y="3485944"/>
            <a:ext cx="4686300" cy="1409700"/>
          </a:xfrm>
          <a:prstGeom prst="rect">
            <a:avLst/>
          </a:prstGeom>
        </p:spPr>
      </p:pic>
      <p:sp>
        <p:nvSpPr>
          <p:cNvPr id="8" name="CuadroTexto 7">
            <a:extLst>
              <a:ext uri="{FF2B5EF4-FFF2-40B4-BE49-F238E27FC236}">
                <a16:creationId xmlns:a16="http://schemas.microsoft.com/office/drawing/2014/main" id="{8C61CFF8-EBA7-49E7-8F89-CAA46B23AFEB}"/>
              </a:ext>
            </a:extLst>
          </p:cNvPr>
          <p:cNvSpPr txBox="1"/>
          <p:nvPr/>
        </p:nvSpPr>
        <p:spPr>
          <a:xfrm>
            <a:off x="482885" y="5054885"/>
            <a:ext cx="7150814" cy="923330"/>
          </a:xfrm>
          <a:prstGeom prst="rect">
            <a:avLst/>
          </a:prstGeom>
          <a:noFill/>
        </p:spPr>
        <p:txBody>
          <a:bodyPr wrap="square" rtlCol="0">
            <a:spAutoFit/>
          </a:bodyPr>
          <a:lstStyle/>
          <a:p>
            <a:r>
              <a:rPr lang="es-CO" b="1" dirty="0"/>
              <a:t>Gráfica 7: </a:t>
            </a:r>
            <a:r>
              <a:rPr lang="es-CO" dirty="0"/>
              <a:t>Imagen de la operación de pasar un archivo “.</a:t>
            </a:r>
            <a:r>
              <a:rPr lang="es-CO" dirty="0" err="1"/>
              <a:t>csv</a:t>
            </a:r>
            <a:r>
              <a:rPr lang="es-CO" dirty="0"/>
              <a:t>” a un arreglo bidimensional</a:t>
            </a:r>
            <a:endParaRPr lang="en-US" dirty="0"/>
          </a:p>
          <a:p>
            <a:endParaRPr lang="en-US" dirty="0"/>
          </a:p>
        </p:txBody>
      </p:sp>
    </p:spTree>
    <p:extLst>
      <p:ext uri="{BB962C8B-B14F-4D97-AF65-F5344CB8AC3E}">
        <p14:creationId xmlns:p14="http://schemas.microsoft.com/office/powerpoint/2010/main" val="2923091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47776A9-9DD1-462D-B66B-50A915A44C76}"/>
              </a:ext>
            </a:extLst>
          </p:cNvPr>
          <p:cNvSpPr txBox="1"/>
          <p:nvPr/>
        </p:nvSpPr>
        <p:spPr>
          <a:xfrm>
            <a:off x="821933" y="544530"/>
            <a:ext cx="3945277" cy="369332"/>
          </a:xfrm>
          <a:prstGeom prst="rect">
            <a:avLst/>
          </a:prstGeom>
          <a:noFill/>
        </p:spPr>
        <p:txBody>
          <a:bodyPr wrap="square" rtlCol="0">
            <a:spAutoFit/>
          </a:bodyPr>
          <a:lstStyle/>
          <a:p>
            <a:r>
              <a:rPr lang="es-CO" b="1"/>
              <a:t>Características</a:t>
            </a:r>
            <a:endParaRPr lang="en-US" dirty="0"/>
          </a:p>
        </p:txBody>
      </p:sp>
      <p:pic>
        <p:nvPicPr>
          <p:cNvPr id="5" name="Imagen 4">
            <a:extLst>
              <a:ext uri="{FF2B5EF4-FFF2-40B4-BE49-F238E27FC236}">
                <a16:creationId xmlns:a16="http://schemas.microsoft.com/office/drawing/2014/main" id="{E2B10AA3-FE91-4373-B748-3C0847AB2BB2}"/>
              </a:ext>
            </a:extLst>
          </p:cNvPr>
          <p:cNvPicPr/>
          <p:nvPr/>
        </p:nvPicPr>
        <p:blipFill>
          <a:blip r:embed="rId2"/>
          <a:stretch>
            <a:fillRect/>
          </a:stretch>
        </p:blipFill>
        <p:spPr>
          <a:xfrm>
            <a:off x="472392" y="913863"/>
            <a:ext cx="3945278" cy="4336232"/>
          </a:xfrm>
          <a:prstGeom prst="rect">
            <a:avLst/>
          </a:prstGeom>
        </p:spPr>
      </p:pic>
      <p:sp>
        <p:nvSpPr>
          <p:cNvPr id="6" name="Flecha: hacia abajo 5">
            <a:extLst>
              <a:ext uri="{FF2B5EF4-FFF2-40B4-BE49-F238E27FC236}">
                <a16:creationId xmlns:a16="http://schemas.microsoft.com/office/drawing/2014/main" id="{984CFB79-FAE9-47F4-8589-FFF5D87914FE}"/>
              </a:ext>
            </a:extLst>
          </p:cNvPr>
          <p:cNvSpPr/>
          <p:nvPr/>
        </p:nvSpPr>
        <p:spPr>
          <a:xfrm rot="16200000">
            <a:off x="4635881" y="2671451"/>
            <a:ext cx="590550" cy="821055"/>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7" name="Imagen 6">
            <a:extLst>
              <a:ext uri="{FF2B5EF4-FFF2-40B4-BE49-F238E27FC236}">
                <a16:creationId xmlns:a16="http://schemas.microsoft.com/office/drawing/2014/main" id="{F814F329-ABBD-4C82-B243-7A42C40AB462}"/>
              </a:ext>
            </a:extLst>
          </p:cNvPr>
          <p:cNvPicPr/>
          <p:nvPr/>
        </p:nvPicPr>
        <p:blipFill>
          <a:blip r:embed="rId3"/>
          <a:stretch>
            <a:fillRect/>
          </a:stretch>
        </p:blipFill>
        <p:spPr>
          <a:xfrm>
            <a:off x="5341244" y="913862"/>
            <a:ext cx="3658918" cy="4336232"/>
          </a:xfrm>
          <a:prstGeom prst="rect">
            <a:avLst/>
          </a:prstGeom>
        </p:spPr>
      </p:pic>
      <p:sp>
        <p:nvSpPr>
          <p:cNvPr id="8" name="CuadroTexto 7">
            <a:extLst>
              <a:ext uri="{FF2B5EF4-FFF2-40B4-BE49-F238E27FC236}">
                <a16:creationId xmlns:a16="http://schemas.microsoft.com/office/drawing/2014/main" id="{ECDC8C14-757B-4D75-959E-C5B0798BAD39}"/>
              </a:ext>
            </a:extLst>
          </p:cNvPr>
          <p:cNvSpPr txBox="1"/>
          <p:nvPr/>
        </p:nvSpPr>
        <p:spPr>
          <a:xfrm>
            <a:off x="297951" y="5250094"/>
            <a:ext cx="7705618" cy="923330"/>
          </a:xfrm>
          <a:prstGeom prst="rect">
            <a:avLst/>
          </a:prstGeom>
          <a:noFill/>
        </p:spPr>
        <p:txBody>
          <a:bodyPr wrap="square" rtlCol="0">
            <a:spAutoFit/>
          </a:bodyPr>
          <a:lstStyle/>
          <a:p>
            <a:r>
              <a:rPr lang="es-CO" b="1" dirty="0"/>
              <a:t>Gráfico 8: </a:t>
            </a:r>
            <a:r>
              <a:rPr lang="es-CO" dirty="0"/>
              <a:t>Imagen de la operación característica, que consiste en eliminar la columna “label”.</a:t>
            </a:r>
            <a:endParaRPr lang="en-US" dirty="0"/>
          </a:p>
          <a:p>
            <a:endParaRPr lang="en-US" dirty="0"/>
          </a:p>
        </p:txBody>
      </p:sp>
    </p:spTree>
    <p:extLst>
      <p:ext uri="{BB962C8B-B14F-4D97-AF65-F5344CB8AC3E}">
        <p14:creationId xmlns:p14="http://schemas.microsoft.com/office/powerpoint/2010/main" val="3974231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FE7A547-7994-4DB4-9FCA-235C832C8C13}"/>
              </a:ext>
            </a:extLst>
          </p:cNvPr>
          <p:cNvSpPr txBox="1"/>
          <p:nvPr/>
        </p:nvSpPr>
        <p:spPr>
          <a:xfrm>
            <a:off x="380144" y="267128"/>
            <a:ext cx="4356243" cy="369332"/>
          </a:xfrm>
          <a:prstGeom prst="rect">
            <a:avLst/>
          </a:prstGeom>
          <a:noFill/>
        </p:spPr>
        <p:txBody>
          <a:bodyPr wrap="square" rtlCol="0">
            <a:spAutoFit/>
          </a:bodyPr>
          <a:lstStyle/>
          <a:p>
            <a:r>
              <a:rPr lang="es-CO" b="1" dirty="0"/>
              <a:t>Etiqueta</a:t>
            </a:r>
            <a:endParaRPr lang="en-US" dirty="0"/>
          </a:p>
        </p:txBody>
      </p:sp>
      <p:pic>
        <p:nvPicPr>
          <p:cNvPr id="6" name="Imagen 5">
            <a:extLst>
              <a:ext uri="{FF2B5EF4-FFF2-40B4-BE49-F238E27FC236}">
                <a16:creationId xmlns:a16="http://schemas.microsoft.com/office/drawing/2014/main" id="{378C93E4-215B-4404-BD65-740CD3690F74}"/>
              </a:ext>
            </a:extLst>
          </p:cNvPr>
          <p:cNvPicPr/>
          <p:nvPr/>
        </p:nvPicPr>
        <p:blipFill>
          <a:blip r:embed="rId2"/>
          <a:stretch>
            <a:fillRect/>
          </a:stretch>
        </p:blipFill>
        <p:spPr>
          <a:xfrm>
            <a:off x="380144" y="752553"/>
            <a:ext cx="4006921" cy="4292057"/>
          </a:xfrm>
          <a:prstGeom prst="rect">
            <a:avLst/>
          </a:prstGeom>
        </p:spPr>
      </p:pic>
      <p:sp>
        <p:nvSpPr>
          <p:cNvPr id="7" name="Flecha: hacia abajo 6">
            <a:extLst>
              <a:ext uri="{FF2B5EF4-FFF2-40B4-BE49-F238E27FC236}">
                <a16:creationId xmlns:a16="http://schemas.microsoft.com/office/drawing/2014/main" id="{775D6C6C-F704-45F1-81FF-2F41A66AE9C9}"/>
              </a:ext>
            </a:extLst>
          </p:cNvPr>
          <p:cNvSpPr/>
          <p:nvPr/>
        </p:nvSpPr>
        <p:spPr>
          <a:xfrm rot="16200000">
            <a:off x="4666707" y="2723197"/>
            <a:ext cx="590550" cy="821055"/>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8" name="Imagen 7">
            <a:extLst>
              <a:ext uri="{FF2B5EF4-FFF2-40B4-BE49-F238E27FC236}">
                <a16:creationId xmlns:a16="http://schemas.microsoft.com/office/drawing/2014/main" id="{D1B0CB95-E6B4-4265-AF3F-BF332AC22626}"/>
              </a:ext>
            </a:extLst>
          </p:cNvPr>
          <p:cNvPicPr/>
          <p:nvPr/>
        </p:nvPicPr>
        <p:blipFill>
          <a:blip r:embed="rId3">
            <a:extLst>
              <a:ext uri="{28A0092B-C50C-407E-A947-70E740481C1C}">
                <a14:useLocalDpi xmlns:a14="http://schemas.microsoft.com/office/drawing/2010/main" val="0"/>
              </a:ext>
            </a:extLst>
          </a:blip>
          <a:stretch>
            <a:fillRect/>
          </a:stretch>
        </p:blipFill>
        <p:spPr>
          <a:xfrm>
            <a:off x="5864381" y="752553"/>
            <a:ext cx="608337" cy="4292056"/>
          </a:xfrm>
          <a:prstGeom prst="rect">
            <a:avLst/>
          </a:prstGeom>
        </p:spPr>
      </p:pic>
      <p:sp>
        <p:nvSpPr>
          <p:cNvPr id="9" name="CuadroTexto 8">
            <a:extLst>
              <a:ext uri="{FF2B5EF4-FFF2-40B4-BE49-F238E27FC236}">
                <a16:creationId xmlns:a16="http://schemas.microsoft.com/office/drawing/2014/main" id="{5B560B57-E9D1-4374-8796-5822DDDBC857}"/>
              </a:ext>
            </a:extLst>
          </p:cNvPr>
          <p:cNvSpPr txBox="1"/>
          <p:nvPr/>
        </p:nvSpPr>
        <p:spPr>
          <a:xfrm>
            <a:off x="215755" y="5260369"/>
            <a:ext cx="6955607" cy="923330"/>
          </a:xfrm>
          <a:prstGeom prst="rect">
            <a:avLst/>
          </a:prstGeom>
          <a:noFill/>
        </p:spPr>
        <p:txBody>
          <a:bodyPr wrap="square" rtlCol="0">
            <a:spAutoFit/>
          </a:bodyPr>
          <a:lstStyle/>
          <a:p>
            <a:r>
              <a:rPr lang="es-CO" b="1" dirty="0"/>
              <a:t>Gráfico 9: </a:t>
            </a:r>
            <a:r>
              <a:rPr lang="es-CO" dirty="0"/>
              <a:t>Imagen de la operación etiqueta, que consiste en eliminar las primeras seis columnas y dejar solamente “label”.</a:t>
            </a:r>
            <a:endParaRPr lang="en-US" dirty="0"/>
          </a:p>
          <a:p>
            <a:endParaRPr lang="en-US" dirty="0"/>
          </a:p>
        </p:txBody>
      </p:sp>
    </p:spTree>
    <p:extLst>
      <p:ext uri="{BB962C8B-B14F-4D97-AF65-F5344CB8AC3E}">
        <p14:creationId xmlns:p14="http://schemas.microsoft.com/office/powerpoint/2010/main" val="2332317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3ED3373-1FD1-4A84-87C2-41C10BA3BFE7}"/>
              </a:ext>
            </a:extLst>
          </p:cNvPr>
          <p:cNvSpPr txBox="1"/>
          <p:nvPr/>
        </p:nvSpPr>
        <p:spPr>
          <a:xfrm>
            <a:off x="945222" y="667820"/>
            <a:ext cx="3513762" cy="369332"/>
          </a:xfrm>
          <a:prstGeom prst="rect">
            <a:avLst/>
          </a:prstGeom>
          <a:noFill/>
        </p:spPr>
        <p:txBody>
          <a:bodyPr wrap="square" rtlCol="0">
            <a:spAutoFit/>
          </a:bodyPr>
          <a:lstStyle/>
          <a:p>
            <a:r>
              <a:rPr lang="es-CO" b="1" dirty="0"/>
              <a:t>Tabla de complejidades.</a:t>
            </a:r>
            <a:endParaRPr lang="en-US" b="1" dirty="0"/>
          </a:p>
        </p:txBody>
      </p:sp>
      <p:graphicFrame>
        <p:nvGraphicFramePr>
          <p:cNvPr id="5" name="Tabla 4">
            <a:extLst>
              <a:ext uri="{FF2B5EF4-FFF2-40B4-BE49-F238E27FC236}">
                <a16:creationId xmlns:a16="http://schemas.microsoft.com/office/drawing/2014/main" id="{5847AB6F-2BBD-4BAC-B074-50F7E1067FB0}"/>
              </a:ext>
            </a:extLst>
          </p:cNvPr>
          <p:cNvGraphicFramePr>
            <a:graphicFrameLocks noGrp="1"/>
          </p:cNvGraphicFramePr>
          <p:nvPr>
            <p:extLst>
              <p:ext uri="{D42A27DB-BD31-4B8C-83A1-F6EECF244321}">
                <p14:modId xmlns:p14="http://schemas.microsoft.com/office/powerpoint/2010/main" val="2332967311"/>
              </p:ext>
            </p:extLst>
          </p:nvPr>
        </p:nvGraphicFramePr>
        <p:xfrm>
          <a:off x="1553800" y="1404054"/>
          <a:ext cx="5905238" cy="2695335"/>
        </p:xfrm>
        <a:graphic>
          <a:graphicData uri="http://schemas.openxmlformats.org/drawingml/2006/table">
            <a:tbl>
              <a:tblPr firstRow="1" firstCol="1" bandRow="1">
                <a:tableStyleId>{5C22544A-7EE6-4342-B048-85BDC9FD1C3A}</a:tableStyleId>
              </a:tblPr>
              <a:tblGrid>
                <a:gridCol w="2952619">
                  <a:extLst>
                    <a:ext uri="{9D8B030D-6E8A-4147-A177-3AD203B41FA5}">
                      <a16:colId xmlns:a16="http://schemas.microsoft.com/office/drawing/2014/main" val="2023238348"/>
                    </a:ext>
                  </a:extLst>
                </a:gridCol>
                <a:gridCol w="2952619">
                  <a:extLst>
                    <a:ext uri="{9D8B030D-6E8A-4147-A177-3AD203B41FA5}">
                      <a16:colId xmlns:a16="http://schemas.microsoft.com/office/drawing/2014/main" val="1736028361"/>
                    </a:ext>
                  </a:extLst>
                </a:gridCol>
              </a:tblGrid>
              <a:tr h="539067">
                <a:tc>
                  <a:txBody>
                    <a:bodyPr/>
                    <a:lstStyle/>
                    <a:p>
                      <a:pPr marL="0" marR="0" indent="0" algn="just">
                        <a:spcBef>
                          <a:spcPts val="0"/>
                        </a:spcBef>
                        <a:spcAft>
                          <a:spcPts val="600"/>
                        </a:spcAft>
                        <a:tabLst>
                          <a:tab pos="2743200" algn="l"/>
                        </a:tabLst>
                      </a:pPr>
                      <a:r>
                        <a:rPr lang="es-ES_tradnl" sz="1000">
                          <a:effectLst/>
                        </a:rPr>
                        <a:t>Operación</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spcBef>
                          <a:spcPts val="0"/>
                        </a:spcBef>
                        <a:spcAft>
                          <a:spcPts val="600"/>
                        </a:spcAft>
                        <a:tabLst>
                          <a:tab pos="2743200" algn="l"/>
                        </a:tabLst>
                      </a:pPr>
                      <a:r>
                        <a:rPr lang="es-ES_tradnl" sz="1000" dirty="0">
                          <a:effectLst/>
                        </a:rPr>
                        <a:t>Complejidad</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9347697"/>
                  </a:ext>
                </a:extLst>
              </a:tr>
              <a:tr h="539067">
                <a:tc>
                  <a:txBody>
                    <a:bodyPr/>
                    <a:lstStyle/>
                    <a:p>
                      <a:pPr marL="0" marR="0" indent="0" algn="just">
                        <a:spcBef>
                          <a:spcPts val="0"/>
                        </a:spcBef>
                        <a:spcAft>
                          <a:spcPts val="600"/>
                        </a:spcAft>
                        <a:tabLst>
                          <a:tab pos="2743200" algn="l"/>
                        </a:tabLst>
                      </a:pPr>
                      <a:r>
                        <a:rPr lang="es-ES_tradnl" sz="1000">
                          <a:effectLst/>
                        </a:rPr>
                        <a:t>Buscar</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spcBef>
                          <a:spcPts val="0"/>
                        </a:spcBef>
                        <a:spcAft>
                          <a:spcPts val="600"/>
                        </a:spcAft>
                        <a:tabLst>
                          <a:tab pos="2743200" algn="l"/>
                        </a:tabLst>
                      </a:pPr>
                      <a:r>
                        <a:rPr lang="es-ES_tradnl" sz="1000" dirty="0">
                          <a:effectLst/>
                        </a:rPr>
                        <a:t>O(n)</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15186478"/>
                  </a:ext>
                </a:extLst>
              </a:tr>
              <a:tr h="539067">
                <a:tc>
                  <a:txBody>
                    <a:bodyPr/>
                    <a:lstStyle/>
                    <a:p>
                      <a:pPr marL="0" marR="0" indent="0" algn="just">
                        <a:spcBef>
                          <a:spcPts val="0"/>
                        </a:spcBef>
                        <a:spcAft>
                          <a:spcPts val="600"/>
                        </a:spcAft>
                        <a:tabLst>
                          <a:tab pos="2743200" algn="l"/>
                        </a:tabLst>
                      </a:pPr>
                      <a:r>
                        <a:rPr lang="es-ES_tradnl" sz="1000">
                          <a:effectLst/>
                        </a:rPr>
                        <a:t>Insertar nuevo dato</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spcBef>
                          <a:spcPts val="0"/>
                        </a:spcBef>
                        <a:spcAft>
                          <a:spcPts val="600"/>
                        </a:spcAft>
                        <a:tabLst>
                          <a:tab pos="2743200" algn="l"/>
                        </a:tabLst>
                      </a:pPr>
                      <a:r>
                        <a:rPr lang="es-ES_tradnl" sz="1000">
                          <a:effectLst/>
                        </a:rPr>
                        <a:t>O(1)</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66814198"/>
                  </a:ext>
                </a:extLst>
              </a:tr>
              <a:tr h="539067">
                <a:tc>
                  <a:txBody>
                    <a:bodyPr/>
                    <a:lstStyle/>
                    <a:p>
                      <a:pPr marL="0" marR="0" indent="0" algn="just">
                        <a:spcBef>
                          <a:spcPts val="0"/>
                        </a:spcBef>
                        <a:spcAft>
                          <a:spcPts val="600"/>
                        </a:spcAft>
                        <a:tabLst>
                          <a:tab pos="2743200" algn="l"/>
                        </a:tabLst>
                      </a:pPr>
                      <a:r>
                        <a:rPr lang="es-ES_tradnl" sz="1000">
                          <a:effectLst/>
                        </a:rPr>
                        <a:t>Eliminar</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spcBef>
                          <a:spcPts val="0"/>
                        </a:spcBef>
                        <a:spcAft>
                          <a:spcPts val="600"/>
                        </a:spcAft>
                        <a:tabLst>
                          <a:tab pos="2743200" algn="l"/>
                        </a:tabLst>
                      </a:pPr>
                      <a:r>
                        <a:rPr lang="es-ES_tradnl" sz="1000">
                          <a:effectLst/>
                        </a:rPr>
                        <a:t>O(1)</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7363699"/>
                  </a:ext>
                </a:extLst>
              </a:tr>
              <a:tr h="539067">
                <a:tc>
                  <a:txBody>
                    <a:bodyPr/>
                    <a:lstStyle/>
                    <a:p>
                      <a:pPr marL="0" marR="0" indent="0" algn="just">
                        <a:spcBef>
                          <a:spcPts val="0"/>
                        </a:spcBef>
                        <a:spcAft>
                          <a:spcPts val="600"/>
                        </a:spcAft>
                        <a:tabLst>
                          <a:tab pos="2743200" algn="l"/>
                        </a:tabLst>
                      </a:pPr>
                      <a:r>
                        <a:rPr lang="es-ES_tradnl" sz="1000">
                          <a:effectLst/>
                        </a:rPr>
                        <a:t>Insertar nueva fila</a:t>
                      </a:r>
                      <a:endParaRPr lang="en-US"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spcBef>
                          <a:spcPts val="0"/>
                        </a:spcBef>
                        <a:spcAft>
                          <a:spcPts val="600"/>
                        </a:spcAft>
                        <a:tabLst>
                          <a:tab pos="2743200" algn="l"/>
                        </a:tabLst>
                      </a:pPr>
                      <a:r>
                        <a:rPr lang="es-ES_tradnl" sz="1000" dirty="0">
                          <a:effectLst/>
                        </a:rPr>
                        <a:t>O(n)</a:t>
                      </a:r>
                      <a:endParaRPr lang="en-US"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86008082"/>
                  </a:ext>
                </a:extLst>
              </a:tr>
            </a:tbl>
          </a:graphicData>
        </a:graphic>
      </p:graphicFrame>
    </p:spTree>
    <p:extLst>
      <p:ext uri="{BB962C8B-B14F-4D97-AF65-F5344CB8AC3E}">
        <p14:creationId xmlns:p14="http://schemas.microsoft.com/office/powerpoint/2010/main" val="3069616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357660" y="433215"/>
            <a:ext cx="7885440" cy="614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800" b="1" i="1" spc="-1" dirty="0">
                <a:solidFill>
                  <a:srgbClr val="333F4F"/>
                </a:solidFill>
                <a:uFill>
                  <a:solidFill>
                    <a:srgbClr val="FFFFFF"/>
                  </a:solidFill>
                </a:uFill>
                <a:latin typeface="+mj-lt"/>
                <a:ea typeface="DejaVu Sans"/>
              </a:rPr>
              <a:t>Criterios de Diseño de la Estructura de Datos </a:t>
            </a:r>
          </a:p>
        </p:txBody>
      </p:sp>
      <p:sp>
        <p:nvSpPr>
          <p:cNvPr id="83" name="CustomShape 2"/>
          <p:cNvSpPr/>
          <p:nvPr/>
        </p:nvSpPr>
        <p:spPr>
          <a:xfrm>
            <a:off x="700560" y="1488756"/>
            <a:ext cx="7885440" cy="239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buClr>
                <a:srgbClr val="000000"/>
              </a:buClr>
              <a:buSzPct val="45000"/>
            </a:pPr>
            <a:r>
              <a:rPr lang="es-ES_tradnl" dirty="0"/>
              <a:t>Elegimos esta estructura de datos porque se acomoda perfectamente a los requerimientos del proyecto, pues al organizar los datos en forma de tabla de la misma forma en que son ingresados se hace más fácil insertar y acceder a estos para realizar el respectivo análisis y determinar si la roya existe o no en esta planta. La complejidad de operaciones es otro factor que se tuvo en cuenta, porque acceder y eliminar posiciones de memoria específicas es O(1), otras operaciones como insertar una fila o buscar un dato específico tiene complejidad O(n), con n = Número de filas (Porque el número de columnas es constante), no obstante, esto no será un gran obstáculo porque las entradas no tienen una cantidad de datos exageradamente grande, lo que hace que el algoritmo no se tarde mucho en realizar cualquier operación  Adicionalmente, la estructura no ocupa una gran cantidad de memoria RAM en el computador en que se ejecute, porque se trata de un arreglo bidimensional, el cual va creando posiciones a medida que se ocupan las que estaban disponibles.</a:t>
            </a:r>
            <a:endParaRPr lang="en-US" dirty="0"/>
          </a:p>
          <a:p>
            <a:pPr algn="just">
              <a:buClr>
                <a:srgbClr val="000000"/>
              </a:buClr>
              <a:buSzPct val="45000"/>
            </a:pPr>
            <a:endParaRPr lang="en-US" sz="2000" b="0" strike="noStrike"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ustomShape 1"/>
          <p:cNvSpPr/>
          <p:nvPr/>
        </p:nvSpPr>
        <p:spPr>
          <a:xfrm>
            <a:off x="243360" y="302378"/>
            <a:ext cx="7885440" cy="614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800" b="1" i="1" spc="-1" dirty="0" err="1">
                <a:solidFill>
                  <a:srgbClr val="333F4F"/>
                </a:solidFill>
                <a:uFill>
                  <a:solidFill>
                    <a:srgbClr val="FFFFFF"/>
                  </a:solidFill>
                </a:uFill>
                <a:latin typeface="+mj-lt"/>
                <a:ea typeface="DejaVu Sans"/>
              </a:rPr>
              <a:t>Consumo</a:t>
            </a:r>
            <a:r>
              <a:rPr lang="en-US" sz="2800" b="1" i="1" spc="-1" dirty="0">
                <a:solidFill>
                  <a:srgbClr val="333F4F"/>
                </a:solidFill>
                <a:uFill>
                  <a:solidFill>
                    <a:srgbClr val="FFFFFF"/>
                  </a:solidFill>
                </a:uFill>
                <a:latin typeface="+mj-lt"/>
                <a:ea typeface="DejaVu Sans"/>
              </a:rPr>
              <a:t> de </a:t>
            </a:r>
            <a:r>
              <a:rPr lang="en-US" sz="2800" b="1" i="1" spc="-1" dirty="0" err="1">
                <a:solidFill>
                  <a:srgbClr val="333F4F"/>
                </a:solidFill>
                <a:uFill>
                  <a:solidFill>
                    <a:srgbClr val="FFFFFF"/>
                  </a:solidFill>
                </a:uFill>
                <a:latin typeface="+mj-lt"/>
                <a:ea typeface="DejaVu Sans"/>
              </a:rPr>
              <a:t>Tiempo</a:t>
            </a:r>
            <a:r>
              <a:rPr lang="en-US" sz="2800" b="1" i="1" spc="-1" dirty="0">
                <a:solidFill>
                  <a:srgbClr val="333F4F"/>
                </a:solidFill>
                <a:uFill>
                  <a:solidFill>
                    <a:srgbClr val="FFFFFF"/>
                  </a:solidFill>
                </a:uFill>
                <a:latin typeface="+mj-lt"/>
                <a:ea typeface="DejaVu Sans"/>
              </a:rPr>
              <a:t> y </a:t>
            </a:r>
            <a:r>
              <a:rPr lang="en-US" sz="2800" b="1" i="1" spc="-1" dirty="0" err="1">
                <a:solidFill>
                  <a:srgbClr val="333F4F"/>
                </a:solidFill>
                <a:uFill>
                  <a:solidFill>
                    <a:srgbClr val="FFFFFF"/>
                  </a:solidFill>
                </a:uFill>
                <a:latin typeface="+mj-lt"/>
                <a:ea typeface="DejaVu Sans"/>
              </a:rPr>
              <a:t>Memoria</a:t>
            </a:r>
            <a:endParaRPr lang="en-US" sz="2800" b="1" i="1" spc="-1" dirty="0">
              <a:solidFill>
                <a:srgbClr val="333F4F"/>
              </a:solidFill>
              <a:uFill>
                <a:solidFill>
                  <a:srgbClr val="FFFFFF"/>
                </a:solidFill>
              </a:uFill>
              <a:latin typeface="+mj-lt"/>
              <a:ea typeface="DejaVu Sans"/>
            </a:endParaRPr>
          </a:p>
        </p:txBody>
      </p:sp>
      <p:graphicFrame>
        <p:nvGraphicFramePr>
          <p:cNvPr id="4" name="Gráfico 3"/>
          <p:cNvGraphicFramePr>
            <a:graphicFrameLocks/>
          </p:cNvGraphicFramePr>
          <p:nvPr>
            <p:extLst>
              <p:ext uri="{D42A27DB-BD31-4B8C-83A1-F6EECF244321}">
                <p14:modId xmlns:p14="http://schemas.microsoft.com/office/powerpoint/2010/main" val="304565597"/>
              </p:ext>
            </p:extLst>
          </p:nvPr>
        </p:nvGraphicFramePr>
        <p:xfrm>
          <a:off x="1256305" y="1121134"/>
          <a:ext cx="6392849" cy="423804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p:cNvGraphicFramePr>
            <a:graphicFrameLocks/>
          </p:cNvGraphicFramePr>
          <p:nvPr>
            <p:extLst>
              <p:ext uri="{D42A27DB-BD31-4B8C-83A1-F6EECF244321}">
                <p14:modId xmlns:p14="http://schemas.microsoft.com/office/powerpoint/2010/main" val="3234174961"/>
              </p:ext>
            </p:extLst>
          </p:nvPr>
        </p:nvGraphicFramePr>
        <p:xfrm>
          <a:off x="1256305" y="930302"/>
          <a:ext cx="6416703" cy="46912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52518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F7E8FA1-486D-4A72-8997-973464EA54BB}"/>
              </a:ext>
            </a:extLst>
          </p:cNvPr>
          <p:cNvSpPr txBox="1"/>
          <p:nvPr/>
        </p:nvSpPr>
        <p:spPr>
          <a:xfrm>
            <a:off x="1222624" y="1674674"/>
            <a:ext cx="6842589" cy="1754326"/>
          </a:xfrm>
          <a:prstGeom prst="rect">
            <a:avLst/>
          </a:prstGeom>
          <a:noFill/>
        </p:spPr>
        <p:txBody>
          <a:bodyPr wrap="square" rtlCol="0">
            <a:spAutoFit/>
          </a:bodyPr>
          <a:lstStyle/>
          <a:p>
            <a:r>
              <a:rPr lang="es-ES_tradnl" dirty="0"/>
              <a:t>De los gráficos anteriores podemos concluir que el tiempo de ejecución es muy mínimo y este crece o decrece de acuerdo al tamaño de la base de datos que se le ingrese. La cantidad de memoria que se consume es baja, lo que favorece la ejecución del algoritmo.</a:t>
            </a:r>
            <a:endParaRPr lang="en-US" dirty="0"/>
          </a:p>
          <a:p>
            <a:endParaRPr lang="en-US" dirty="0"/>
          </a:p>
        </p:txBody>
      </p:sp>
    </p:spTree>
    <p:extLst>
      <p:ext uri="{BB962C8B-B14F-4D97-AF65-F5344CB8AC3E}">
        <p14:creationId xmlns:p14="http://schemas.microsoft.com/office/powerpoint/2010/main" val="4278639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271935" y="254160"/>
            <a:ext cx="7885440" cy="614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800" b="1" i="1" spc="-1" dirty="0">
                <a:solidFill>
                  <a:srgbClr val="333F4F"/>
                </a:solidFill>
                <a:uFill>
                  <a:solidFill>
                    <a:srgbClr val="FFFFFF"/>
                  </a:solidFill>
                </a:uFill>
                <a:latin typeface="+mj-lt"/>
                <a:ea typeface="DejaVu Sans"/>
              </a:rPr>
              <a:t>Software Desarrollado</a:t>
            </a:r>
          </a:p>
        </p:txBody>
      </p:sp>
      <p:sp>
        <p:nvSpPr>
          <p:cNvPr id="4" name="Elipse 3">
            <a:extLst>
              <a:ext uri="{FF2B5EF4-FFF2-40B4-BE49-F238E27FC236}">
                <a16:creationId xmlns:a16="http://schemas.microsoft.com/office/drawing/2014/main" id="{7FD771B1-CF5B-4279-ACCE-0FD57E7500A7}"/>
              </a:ext>
            </a:extLst>
          </p:cNvPr>
          <p:cNvSpPr/>
          <p:nvPr/>
        </p:nvSpPr>
        <p:spPr>
          <a:xfrm>
            <a:off x="5311739" y="647272"/>
            <a:ext cx="3457584" cy="3524036"/>
          </a:xfrm>
          <a:prstGeom prst="ellipse">
            <a:avLst/>
          </a:prstGeom>
          <a:blipFill dpi="0" rotWithShape="1">
            <a:blip r:embed="rId2"/>
            <a:srcRect/>
            <a:tile tx="6350" ty="25400" sx="99000" sy="99000" flip="none" algn="tl"/>
          </a:blip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86D0BC8F-A2C2-4302-9C18-83864C12051A}"/>
              </a:ext>
            </a:extLst>
          </p:cNvPr>
          <p:cNvPicPr>
            <a:picLocks noChangeAspect="1"/>
          </p:cNvPicPr>
          <p:nvPr/>
        </p:nvPicPr>
        <p:blipFill>
          <a:blip r:embed="rId3"/>
          <a:stretch>
            <a:fillRect/>
          </a:stretch>
        </p:blipFill>
        <p:spPr>
          <a:xfrm>
            <a:off x="885116" y="984374"/>
            <a:ext cx="3813443" cy="4416642"/>
          </a:xfrm>
          <a:prstGeom prst="rect">
            <a:avLst/>
          </a:prstGeom>
        </p:spPr>
      </p:pic>
      <p:sp>
        <p:nvSpPr>
          <p:cNvPr id="12" name="Elipse 11">
            <a:extLst>
              <a:ext uri="{FF2B5EF4-FFF2-40B4-BE49-F238E27FC236}">
                <a16:creationId xmlns:a16="http://schemas.microsoft.com/office/drawing/2014/main" id="{A470D971-3915-47BB-BB0F-F7B151B2CEE1}"/>
              </a:ext>
            </a:extLst>
          </p:cNvPr>
          <p:cNvSpPr/>
          <p:nvPr/>
        </p:nvSpPr>
        <p:spPr>
          <a:xfrm>
            <a:off x="2445249" y="2033387"/>
            <a:ext cx="1561672" cy="161304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onector: curvado 13">
            <a:extLst>
              <a:ext uri="{FF2B5EF4-FFF2-40B4-BE49-F238E27FC236}">
                <a16:creationId xmlns:a16="http://schemas.microsoft.com/office/drawing/2014/main" id="{1002478A-58F3-4703-9EF8-0683D960F3EE}"/>
              </a:ext>
            </a:extLst>
          </p:cNvPr>
          <p:cNvCxnSpPr>
            <a:cxnSpLocks/>
            <a:stCxn id="12" idx="6"/>
            <a:endCxn id="4" idx="0"/>
          </p:cNvCxnSpPr>
          <p:nvPr/>
        </p:nvCxnSpPr>
        <p:spPr>
          <a:xfrm flipV="1">
            <a:off x="4006921" y="647272"/>
            <a:ext cx="3033610" cy="2192637"/>
          </a:xfrm>
          <a:prstGeom prst="curvedConnector4">
            <a:avLst>
              <a:gd name="adj1" fmla="val 21506"/>
              <a:gd name="adj2" fmla="val 110426"/>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198CC04-3CEF-48CF-B1A8-5BA1F5A27E3F}"/>
              </a:ext>
            </a:extLst>
          </p:cNvPr>
          <p:cNvPicPr>
            <a:picLocks noChangeAspect="1"/>
          </p:cNvPicPr>
          <p:nvPr/>
        </p:nvPicPr>
        <p:blipFill>
          <a:blip r:embed="rId2"/>
          <a:stretch>
            <a:fillRect/>
          </a:stretch>
        </p:blipFill>
        <p:spPr>
          <a:xfrm>
            <a:off x="1907722" y="505505"/>
            <a:ext cx="5066230" cy="5025894"/>
          </a:xfrm>
          <a:prstGeom prst="rect">
            <a:avLst/>
          </a:prstGeom>
        </p:spPr>
      </p:pic>
    </p:spTree>
    <p:extLst>
      <p:ext uri="{BB962C8B-B14F-4D97-AF65-F5344CB8AC3E}">
        <p14:creationId xmlns:p14="http://schemas.microsoft.com/office/powerpoint/2010/main" val="3227895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Presentación2</Template>
  <TotalTime>2098</TotalTime>
  <Words>485</Words>
  <Application>Microsoft Office PowerPoint</Application>
  <PresentationFormat>Presentación en pantalla (4:3)</PresentationFormat>
  <Paragraphs>36</Paragraphs>
  <Slides>15</Slides>
  <Notes>0</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15</vt:i4>
      </vt:variant>
    </vt:vector>
  </HeadingPairs>
  <TitlesOfParts>
    <vt:vector size="23" baseType="lpstr">
      <vt:lpstr>Arial</vt:lpstr>
      <vt:lpstr>Calibri</vt:lpstr>
      <vt:lpstr>DejaVu Sans</vt:lpstr>
      <vt:lpstr>Symbol</vt:lpstr>
      <vt:lpstr>Times New Roman</vt:lpstr>
      <vt:lpstr>Wingdings</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eafit</dc:creator>
  <dc:description/>
  <cp:lastModifiedBy>juan andres giraldo aristizabal</cp:lastModifiedBy>
  <cp:revision>87</cp:revision>
  <dcterms:created xsi:type="dcterms:W3CDTF">2015-03-03T14:30:17Z</dcterms:created>
  <dcterms:modified xsi:type="dcterms:W3CDTF">2019-10-29T11:44:27Z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Presentación en pantalla (4:3)</vt:lpwstr>
  </property>
  <property fmtid="{D5CDD505-2E9C-101B-9397-08002B2CF9AE}" pid="9" name="ScaleCrop">
    <vt:bool>false</vt:bool>
  </property>
  <property fmtid="{D5CDD505-2E9C-101B-9397-08002B2CF9AE}" pid="10" name="ShareDoc">
    <vt:bool>false</vt:bool>
  </property>
  <property fmtid="{D5CDD505-2E9C-101B-9397-08002B2CF9AE}" pid="11" name="Slides">
    <vt:i4>10</vt:i4>
  </property>
</Properties>
</file>